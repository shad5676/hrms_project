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9"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Lst>
  <p:sldSz cx="14630400" cy="8229600"/>
  <p:notesSz cx="8229600" cy="14630400"/>
  <p:embeddedFontLst>
    <p:embeddedFont>
      <p:font typeface="Roboto Mono Medium" panose="020B0604020202020204" charset="0"/>
      <p:regular r:id="rId27"/>
    </p:embeddedFont>
    <p:embeddedFont>
      <p:font typeface="Calibri" panose="020F0502020204030204" pitchFamily="34" charset="0"/>
      <p:regular r:id="rId28"/>
      <p:bold r:id="rId29"/>
      <p:italic r:id="rId30"/>
      <p:boldItalic r:id="rId31"/>
    </p:embeddedFont>
    <p:embeddedFont>
      <p:font typeface="Roboto"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61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761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9-7.sv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9-5.svg"/><Relationship Id="rId5" Type="http://schemas.openxmlformats.org/officeDocument/2006/relationships/image" Target="../media/image-9-3.sv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9-9.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74294"/>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Laravel HRMS: Transforming Human Resources</a:t>
            </a:r>
            <a:endParaRPr lang="en-US" sz="4450" dirty="0"/>
          </a:p>
        </p:txBody>
      </p:sp>
      <p:sp>
        <p:nvSpPr>
          <p:cNvPr id="4" name="Text 1"/>
          <p:cNvSpPr/>
          <p:nvPr/>
        </p:nvSpPr>
        <p:spPr>
          <a:xfrm>
            <a:off x="793790" y="4440793"/>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Welcome to an overview of our Human Resource Management System (HRMS), meticulously crafted with the robust Laravel framework. This presentation delves into the system's architecture, core functionalities, and the profound benefits it offers to HR professionals and technical stakeholders alike.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075" y="623530"/>
            <a:ext cx="8158163" cy="566499"/>
          </a:xfrm>
          <a:prstGeom prst="rect">
            <a:avLst/>
          </a:prstGeom>
          <a:noFill/>
          <a:ln/>
        </p:spPr>
        <p:txBody>
          <a:bodyPr wrap="none" lIns="0" tIns="0" rIns="0" bIns="0" rtlCol="0" anchor="t"/>
          <a:lstStyle/>
          <a:p>
            <a:pPr marL="0" indent="0" algn="l">
              <a:lnSpc>
                <a:spcPts val="4450"/>
              </a:lnSpc>
              <a:buNone/>
            </a:pPr>
            <a:r>
              <a:rPr lang="en-US" sz="3550" dirty="0">
                <a:solidFill>
                  <a:srgbClr val="FFFFFF"/>
                </a:solidFill>
                <a:latin typeface="Roboto Mono Medium" pitchFamily="34" charset="0"/>
                <a:ea typeface="Roboto Mono Medium" pitchFamily="34" charset="-122"/>
                <a:cs typeface="Roboto Mono Medium" pitchFamily="34" charset="-120"/>
              </a:rPr>
              <a:t>Streamlining Core HR Processes</a:t>
            </a:r>
            <a:endParaRPr lang="en-US" sz="3550" dirty="0"/>
          </a:p>
        </p:txBody>
      </p:sp>
      <p:sp>
        <p:nvSpPr>
          <p:cNvPr id="3" name="Shape 1"/>
          <p:cNvSpPr/>
          <p:nvPr/>
        </p:nvSpPr>
        <p:spPr>
          <a:xfrm>
            <a:off x="793075" y="1983105"/>
            <a:ext cx="6408777" cy="2038350"/>
          </a:xfrm>
          <a:prstGeom prst="roundRect">
            <a:avLst>
              <a:gd name="adj" fmla="val 7178"/>
            </a:avLst>
          </a:prstGeom>
          <a:solidFill>
            <a:srgbClr val="212121"/>
          </a:solidFill>
          <a:ln/>
        </p:spPr>
      </p:sp>
      <p:sp>
        <p:nvSpPr>
          <p:cNvPr id="4" name="Shape 2"/>
          <p:cNvSpPr/>
          <p:nvPr/>
        </p:nvSpPr>
        <p:spPr>
          <a:xfrm>
            <a:off x="793075" y="1952625"/>
            <a:ext cx="6408777" cy="121920"/>
          </a:xfrm>
          <a:prstGeom prst="roundRect">
            <a:avLst>
              <a:gd name="adj" fmla="val 27881"/>
            </a:avLst>
          </a:prstGeom>
          <a:solidFill>
            <a:srgbClr val="DCFF50"/>
          </a:solidFill>
          <a:ln/>
        </p:spPr>
      </p:sp>
      <p:sp>
        <p:nvSpPr>
          <p:cNvPr id="5" name="Shape 3"/>
          <p:cNvSpPr/>
          <p:nvPr/>
        </p:nvSpPr>
        <p:spPr>
          <a:xfrm>
            <a:off x="3657481" y="1643182"/>
            <a:ext cx="679847" cy="679847"/>
          </a:xfrm>
          <a:prstGeom prst="roundRect">
            <a:avLst>
              <a:gd name="adj" fmla="val 134501"/>
            </a:avLst>
          </a:prstGeom>
          <a:solidFill>
            <a:srgbClr val="DCFF50"/>
          </a:solidFill>
          <a:ln/>
        </p:spPr>
      </p:sp>
      <p:sp>
        <p:nvSpPr>
          <p:cNvPr id="6" name="Text 4"/>
          <p:cNvSpPr/>
          <p:nvPr/>
        </p:nvSpPr>
        <p:spPr>
          <a:xfrm>
            <a:off x="3861435" y="1813084"/>
            <a:ext cx="271939" cy="339923"/>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Roboto Mono Medium" pitchFamily="34" charset="0"/>
                <a:ea typeface="Roboto Mono Medium" pitchFamily="34" charset="-122"/>
                <a:cs typeface="Roboto Mono Medium" pitchFamily="34" charset="-120"/>
              </a:rPr>
              <a:t>1</a:t>
            </a:r>
            <a:endParaRPr lang="en-US" sz="2100" dirty="0"/>
          </a:p>
        </p:txBody>
      </p:sp>
      <p:sp>
        <p:nvSpPr>
          <p:cNvPr id="7" name="Text 5"/>
          <p:cNvSpPr/>
          <p:nvPr/>
        </p:nvSpPr>
        <p:spPr>
          <a:xfrm>
            <a:off x="1050131" y="2549604"/>
            <a:ext cx="3228261" cy="353973"/>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Employee Management</a:t>
            </a:r>
            <a:endParaRPr lang="en-US" sz="2200" dirty="0"/>
          </a:p>
        </p:txBody>
      </p:sp>
      <p:sp>
        <p:nvSpPr>
          <p:cNvPr id="8" name="Text 6"/>
          <p:cNvSpPr/>
          <p:nvPr/>
        </p:nvSpPr>
        <p:spPr>
          <a:xfrm>
            <a:off x="1050131" y="3039547"/>
            <a:ext cx="5894665" cy="72485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From onboarding to offboarding, manage employee lifecycles efficiently.</a:t>
            </a:r>
            <a:endParaRPr lang="en-US" sz="1750" dirty="0"/>
          </a:p>
        </p:txBody>
      </p:sp>
      <p:sp>
        <p:nvSpPr>
          <p:cNvPr id="9" name="Shape 7"/>
          <p:cNvSpPr/>
          <p:nvPr/>
        </p:nvSpPr>
        <p:spPr>
          <a:xfrm>
            <a:off x="7428428" y="1983105"/>
            <a:ext cx="6408896" cy="2038350"/>
          </a:xfrm>
          <a:prstGeom prst="roundRect">
            <a:avLst>
              <a:gd name="adj" fmla="val 7178"/>
            </a:avLst>
          </a:prstGeom>
          <a:solidFill>
            <a:srgbClr val="212121"/>
          </a:solidFill>
          <a:ln/>
        </p:spPr>
      </p:sp>
      <p:sp>
        <p:nvSpPr>
          <p:cNvPr id="10" name="Shape 8"/>
          <p:cNvSpPr/>
          <p:nvPr/>
        </p:nvSpPr>
        <p:spPr>
          <a:xfrm>
            <a:off x="7428428" y="1952625"/>
            <a:ext cx="6408896" cy="121920"/>
          </a:xfrm>
          <a:prstGeom prst="roundRect">
            <a:avLst>
              <a:gd name="adj" fmla="val 27881"/>
            </a:avLst>
          </a:prstGeom>
          <a:solidFill>
            <a:srgbClr val="DCFF50"/>
          </a:solidFill>
          <a:ln/>
        </p:spPr>
      </p:sp>
      <p:sp>
        <p:nvSpPr>
          <p:cNvPr id="11" name="Shape 9"/>
          <p:cNvSpPr/>
          <p:nvPr/>
        </p:nvSpPr>
        <p:spPr>
          <a:xfrm>
            <a:off x="10292953" y="1643182"/>
            <a:ext cx="679847" cy="679847"/>
          </a:xfrm>
          <a:prstGeom prst="roundRect">
            <a:avLst>
              <a:gd name="adj" fmla="val 134501"/>
            </a:avLst>
          </a:prstGeom>
          <a:solidFill>
            <a:srgbClr val="DCFF50"/>
          </a:solidFill>
          <a:ln/>
        </p:spPr>
      </p:sp>
      <p:sp>
        <p:nvSpPr>
          <p:cNvPr id="12" name="Text 10"/>
          <p:cNvSpPr/>
          <p:nvPr/>
        </p:nvSpPr>
        <p:spPr>
          <a:xfrm>
            <a:off x="10496907" y="1813084"/>
            <a:ext cx="271939" cy="339923"/>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Roboto Mono Medium" pitchFamily="34" charset="0"/>
                <a:ea typeface="Roboto Mono Medium" pitchFamily="34" charset="-122"/>
                <a:cs typeface="Roboto Mono Medium" pitchFamily="34" charset="-120"/>
              </a:rPr>
              <a:t>2</a:t>
            </a:r>
            <a:endParaRPr lang="en-US" sz="2100" dirty="0"/>
          </a:p>
        </p:txBody>
      </p:sp>
      <p:sp>
        <p:nvSpPr>
          <p:cNvPr id="13" name="Text 11"/>
          <p:cNvSpPr/>
          <p:nvPr/>
        </p:nvSpPr>
        <p:spPr>
          <a:xfrm>
            <a:off x="7685484" y="2549604"/>
            <a:ext cx="3228261" cy="353973"/>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Attendance Tracking</a:t>
            </a:r>
            <a:endParaRPr lang="en-US" sz="2200" dirty="0"/>
          </a:p>
        </p:txBody>
      </p:sp>
      <p:sp>
        <p:nvSpPr>
          <p:cNvPr id="14" name="Text 12"/>
          <p:cNvSpPr/>
          <p:nvPr/>
        </p:nvSpPr>
        <p:spPr>
          <a:xfrm>
            <a:off x="7685484" y="3039547"/>
            <a:ext cx="5894784" cy="72485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Automate time and attendance records, reducing manual errors and disputes.</a:t>
            </a:r>
            <a:endParaRPr lang="en-US" sz="1750" dirty="0"/>
          </a:p>
        </p:txBody>
      </p:sp>
      <p:sp>
        <p:nvSpPr>
          <p:cNvPr id="15" name="Shape 13"/>
          <p:cNvSpPr/>
          <p:nvPr/>
        </p:nvSpPr>
        <p:spPr>
          <a:xfrm>
            <a:off x="793075" y="4587954"/>
            <a:ext cx="6408777" cy="2038350"/>
          </a:xfrm>
          <a:prstGeom prst="roundRect">
            <a:avLst>
              <a:gd name="adj" fmla="val 7178"/>
            </a:avLst>
          </a:prstGeom>
          <a:solidFill>
            <a:srgbClr val="212121"/>
          </a:solidFill>
          <a:ln/>
        </p:spPr>
      </p:sp>
      <p:sp>
        <p:nvSpPr>
          <p:cNvPr id="16" name="Shape 14"/>
          <p:cNvSpPr/>
          <p:nvPr/>
        </p:nvSpPr>
        <p:spPr>
          <a:xfrm>
            <a:off x="793075" y="4557474"/>
            <a:ext cx="6408777" cy="121920"/>
          </a:xfrm>
          <a:prstGeom prst="roundRect">
            <a:avLst>
              <a:gd name="adj" fmla="val 27881"/>
            </a:avLst>
          </a:prstGeom>
          <a:solidFill>
            <a:srgbClr val="DCFF50"/>
          </a:solidFill>
          <a:ln/>
        </p:spPr>
      </p:sp>
      <p:sp>
        <p:nvSpPr>
          <p:cNvPr id="17" name="Shape 15"/>
          <p:cNvSpPr/>
          <p:nvPr/>
        </p:nvSpPr>
        <p:spPr>
          <a:xfrm>
            <a:off x="3657481" y="4248031"/>
            <a:ext cx="679847" cy="679847"/>
          </a:xfrm>
          <a:prstGeom prst="roundRect">
            <a:avLst>
              <a:gd name="adj" fmla="val 134501"/>
            </a:avLst>
          </a:prstGeom>
          <a:solidFill>
            <a:srgbClr val="DCFF50"/>
          </a:solidFill>
          <a:ln/>
        </p:spPr>
      </p:sp>
      <p:sp>
        <p:nvSpPr>
          <p:cNvPr id="18" name="Text 16"/>
          <p:cNvSpPr/>
          <p:nvPr/>
        </p:nvSpPr>
        <p:spPr>
          <a:xfrm>
            <a:off x="3861435" y="4417933"/>
            <a:ext cx="271939" cy="339923"/>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Roboto Mono Medium" pitchFamily="34" charset="0"/>
                <a:ea typeface="Roboto Mono Medium" pitchFamily="34" charset="-122"/>
                <a:cs typeface="Roboto Mono Medium" pitchFamily="34" charset="-120"/>
              </a:rPr>
              <a:t>3</a:t>
            </a:r>
            <a:endParaRPr lang="en-US" sz="2100" dirty="0"/>
          </a:p>
        </p:txBody>
      </p:sp>
      <p:sp>
        <p:nvSpPr>
          <p:cNvPr id="19" name="Text 17"/>
          <p:cNvSpPr/>
          <p:nvPr/>
        </p:nvSpPr>
        <p:spPr>
          <a:xfrm>
            <a:off x="1050131" y="5154454"/>
            <a:ext cx="2832616" cy="353973"/>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Leave Management</a:t>
            </a:r>
            <a:endParaRPr lang="en-US" sz="2200" dirty="0"/>
          </a:p>
        </p:txBody>
      </p:sp>
      <p:sp>
        <p:nvSpPr>
          <p:cNvPr id="20" name="Text 18"/>
          <p:cNvSpPr/>
          <p:nvPr/>
        </p:nvSpPr>
        <p:spPr>
          <a:xfrm>
            <a:off x="1050131" y="5644396"/>
            <a:ext cx="5894665" cy="72485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Simplify leave requests, approvals, and balance tracking with intuitive workflows.</a:t>
            </a:r>
            <a:endParaRPr lang="en-US" sz="1750" dirty="0"/>
          </a:p>
        </p:txBody>
      </p:sp>
      <p:sp>
        <p:nvSpPr>
          <p:cNvPr id="21" name="Shape 19"/>
          <p:cNvSpPr/>
          <p:nvPr/>
        </p:nvSpPr>
        <p:spPr>
          <a:xfrm>
            <a:off x="7428428" y="4587954"/>
            <a:ext cx="6408896" cy="2038350"/>
          </a:xfrm>
          <a:prstGeom prst="roundRect">
            <a:avLst>
              <a:gd name="adj" fmla="val 7178"/>
            </a:avLst>
          </a:prstGeom>
          <a:solidFill>
            <a:srgbClr val="212121"/>
          </a:solidFill>
          <a:ln/>
        </p:spPr>
      </p:sp>
      <p:sp>
        <p:nvSpPr>
          <p:cNvPr id="22" name="Shape 20"/>
          <p:cNvSpPr/>
          <p:nvPr/>
        </p:nvSpPr>
        <p:spPr>
          <a:xfrm>
            <a:off x="7428428" y="4557474"/>
            <a:ext cx="6408896" cy="121920"/>
          </a:xfrm>
          <a:prstGeom prst="roundRect">
            <a:avLst>
              <a:gd name="adj" fmla="val 27881"/>
            </a:avLst>
          </a:prstGeom>
          <a:solidFill>
            <a:srgbClr val="DCFF50"/>
          </a:solidFill>
          <a:ln/>
        </p:spPr>
      </p:sp>
      <p:sp>
        <p:nvSpPr>
          <p:cNvPr id="23" name="Shape 21"/>
          <p:cNvSpPr/>
          <p:nvPr/>
        </p:nvSpPr>
        <p:spPr>
          <a:xfrm>
            <a:off x="10292953" y="4248031"/>
            <a:ext cx="679847" cy="679847"/>
          </a:xfrm>
          <a:prstGeom prst="roundRect">
            <a:avLst>
              <a:gd name="adj" fmla="val 134501"/>
            </a:avLst>
          </a:prstGeom>
          <a:solidFill>
            <a:srgbClr val="DCFF50"/>
          </a:solidFill>
          <a:ln/>
        </p:spPr>
      </p:sp>
      <p:sp>
        <p:nvSpPr>
          <p:cNvPr id="24" name="Text 22"/>
          <p:cNvSpPr/>
          <p:nvPr/>
        </p:nvSpPr>
        <p:spPr>
          <a:xfrm>
            <a:off x="10496907" y="4417933"/>
            <a:ext cx="271939" cy="339923"/>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Roboto Mono Medium" pitchFamily="34" charset="0"/>
                <a:ea typeface="Roboto Mono Medium" pitchFamily="34" charset="-122"/>
                <a:cs typeface="Roboto Mono Medium" pitchFamily="34" charset="-120"/>
              </a:rPr>
              <a:t>4</a:t>
            </a:r>
            <a:endParaRPr lang="en-US" sz="2100" dirty="0"/>
          </a:p>
        </p:txBody>
      </p:sp>
      <p:sp>
        <p:nvSpPr>
          <p:cNvPr id="25" name="Text 23"/>
          <p:cNvSpPr/>
          <p:nvPr/>
        </p:nvSpPr>
        <p:spPr>
          <a:xfrm>
            <a:off x="7685484" y="5154454"/>
            <a:ext cx="3058358" cy="353973"/>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Payroll Processing</a:t>
            </a:r>
            <a:endParaRPr lang="en-US" sz="2200" dirty="0"/>
          </a:p>
        </p:txBody>
      </p:sp>
      <p:sp>
        <p:nvSpPr>
          <p:cNvPr id="26" name="Text 24"/>
          <p:cNvSpPr/>
          <p:nvPr/>
        </p:nvSpPr>
        <p:spPr>
          <a:xfrm>
            <a:off x="7685484" y="5644396"/>
            <a:ext cx="5894784" cy="72485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Integrate payroll calculations for accurate and timely compensation.</a:t>
            </a:r>
            <a:endParaRPr lang="en-US" sz="1750" dirty="0"/>
          </a:p>
        </p:txBody>
      </p:sp>
      <p:sp>
        <p:nvSpPr>
          <p:cNvPr id="27" name="Text 25"/>
          <p:cNvSpPr/>
          <p:nvPr/>
        </p:nvSpPr>
        <p:spPr>
          <a:xfrm>
            <a:off x="793075" y="6881217"/>
            <a:ext cx="13044249" cy="72485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The HRMS is designed to automate and streamline fundamental HR operations, significantly boosting departmental efficiency and accuracy across the board.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80542"/>
            <a:ext cx="9525357" cy="566976"/>
          </a:xfrm>
          <a:prstGeom prst="rect">
            <a:avLst/>
          </a:prstGeom>
          <a:noFill/>
          <a:ln/>
        </p:spPr>
        <p:txBody>
          <a:bodyPr wrap="none" lIns="0" tIns="0" rIns="0" bIns="0" rtlCol="0" anchor="t"/>
          <a:lstStyle/>
          <a:p>
            <a:pPr marL="0" indent="0" algn="l">
              <a:lnSpc>
                <a:spcPts val="4450"/>
              </a:lnSpc>
              <a:buNone/>
            </a:pPr>
            <a:r>
              <a:rPr lang="en-US" sz="3550" dirty="0">
                <a:solidFill>
                  <a:srgbClr val="FFFFFF"/>
                </a:solidFill>
                <a:latin typeface="Roboto Mono Medium" pitchFamily="34" charset="0"/>
                <a:ea typeface="Roboto Mono Medium" pitchFamily="34" charset="-122"/>
                <a:cs typeface="Roboto Mono Medium" pitchFamily="34" charset="-120"/>
              </a:rPr>
              <a:t>Technology Stack: Laravel Ecosystem</a:t>
            </a:r>
            <a:endParaRPr lang="en-US" sz="3550" dirty="0"/>
          </a:p>
        </p:txBody>
      </p:sp>
      <p:sp>
        <p:nvSpPr>
          <p:cNvPr id="3" name="Text 1"/>
          <p:cNvSpPr/>
          <p:nvPr/>
        </p:nvSpPr>
        <p:spPr>
          <a:xfrm>
            <a:off x="793790" y="250114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Our HRMS leverages the full power of the Laravel ecosystem, ensuring a modern, robust, and secure application. This approach provides a solid foundation for present and future needs.</a:t>
            </a:r>
            <a:endParaRPr lang="en-US" sz="1750" dirty="0"/>
          </a:p>
        </p:txBody>
      </p:sp>
      <p:sp>
        <p:nvSpPr>
          <p:cNvPr id="4" name="Shape 2"/>
          <p:cNvSpPr/>
          <p:nvPr/>
        </p:nvSpPr>
        <p:spPr>
          <a:xfrm>
            <a:off x="793790" y="3482102"/>
            <a:ext cx="13042821" cy="3266837"/>
          </a:xfrm>
          <a:prstGeom prst="roundRect">
            <a:avLst>
              <a:gd name="adj" fmla="val 1042"/>
            </a:avLst>
          </a:prstGeom>
          <a:noFill/>
          <a:ln w="7620">
            <a:solidFill>
              <a:srgbClr val="FFFFFF">
                <a:alpha val="24000"/>
              </a:srgbClr>
            </a:solidFill>
            <a:prstDash val="solid"/>
          </a:ln>
        </p:spPr>
      </p:sp>
      <p:sp>
        <p:nvSpPr>
          <p:cNvPr id="5" name="Shape 3"/>
          <p:cNvSpPr/>
          <p:nvPr/>
        </p:nvSpPr>
        <p:spPr>
          <a:xfrm>
            <a:off x="801410" y="3489722"/>
            <a:ext cx="13027581" cy="650319"/>
          </a:xfrm>
          <a:prstGeom prst="rect">
            <a:avLst/>
          </a:prstGeom>
          <a:solidFill>
            <a:srgbClr val="FFFFFF">
              <a:alpha val="4000"/>
            </a:srgbClr>
          </a:solidFill>
          <a:ln/>
        </p:spPr>
      </p:sp>
      <p:sp>
        <p:nvSpPr>
          <p:cNvPr id="6" name="Text 4"/>
          <p:cNvSpPr/>
          <p:nvPr/>
        </p:nvSpPr>
        <p:spPr>
          <a:xfrm>
            <a:off x="1028343" y="3633430"/>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E5E0DF"/>
                </a:solidFill>
                <a:latin typeface="Roboto" pitchFamily="34" charset="0"/>
                <a:ea typeface="Roboto" pitchFamily="34" charset="-122"/>
                <a:cs typeface="Roboto" pitchFamily="34" charset="-120"/>
              </a:rPr>
              <a:t>Framework</a:t>
            </a:r>
            <a:endParaRPr lang="en-US" sz="1750" dirty="0"/>
          </a:p>
        </p:txBody>
      </p:sp>
      <p:sp>
        <p:nvSpPr>
          <p:cNvPr id="7" name="Text 5"/>
          <p:cNvSpPr/>
          <p:nvPr/>
        </p:nvSpPr>
        <p:spPr>
          <a:xfrm>
            <a:off x="4940379" y="3633430"/>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Laravel (PHP)</a:t>
            </a:r>
            <a:endParaRPr lang="en-US" sz="1750" dirty="0"/>
          </a:p>
        </p:txBody>
      </p:sp>
      <p:sp>
        <p:nvSpPr>
          <p:cNvPr id="8" name="Shape 6"/>
          <p:cNvSpPr/>
          <p:nvPr/>
        </p:nvSpPr>
        <p:spPr>
          <a:xfrm>
            <a:off x="801410" y="4140041"/>
            <a:ext cx="13027581" cy="650319"/>
          </a:xfrm>
          <a:prstGeom prst="rect">
            <a:avLst/>
          </a:prstGeom>
          <a:solidFill>
            <a:srgbClr val="000000">
              <a:alpha val="4000"/>
            </a:srgbClr>
          </a:solidFill>
          <a:ln/>
        </p:spPr>
      </p:sp>
      <p:sp>
        <p:nvSpPr>
          <p:cNvPr id="9" name="Text 7"/>
          <p:cNvSpPr/>
          <p:nvPr/>
        </p:nvSpPr>
        <p:spPr>
          <a:xfrm>
            <a:off x="1028343" y="4283750"/>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E5E0DF"/>
                </a:solidFill>
                <a:latin typeface="Roboto" pitchFamily="34" charset="0"/>
                <a:ea typeface="Roboto" pitchFamily="34" charset="-122"/>
                <a:cs typeface="Roboto" pitchFamily="34" charset="-120"/>
              </a:rPr>
              <a:t>Database</a:t>
            </a:r>
            <a:endParaRPr lang="en-US" sz="1750" dirty="0"/>
          </a:p>
        </p:txBody>
      </p:sp>
      <p:sp>
        <p:nvSpPr>
          <p:cNvPr id="10" name="Text 8"/>
          <p:cNvSpPr/>
          <p:nvPr/>
        </p:nvSpPr>
        <p:spPr>
          <a:xfrm>
            <a:off x="4940379" y="4283750"/>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MySQL (or PostgreSQL)</a:t>
            </a:r>
            <a:endParaRPr lang="en-US" sz="1750" dirty="0"/>
          </a:p>
        </p:txBody>
      </p:sp>
      <p:sp>
        <p:nvSpPr>
          <p:cNvPr id="11" name="Shape 9"/>
          <p:cNvSpPr/>
          <p:nvPr/>
        </p:nvSpPr>
        <p:spPr>
          <a:xfrm>
            <a:off x="801410" y="4790361"/>
            <a:ext cx="13027581" cy="650319"/>
          </a:xfrm>
          <a:prstGeom prst="rect">
            <a:avLst/>
          </a:prstGeom>
          <a:solidFill>
            <a:srgbClr val="FFFFFF">
              <a:alpha val="4000"/>
            </a:srgbClr>
          </a:solidFill>
          <a:ln/>
        </p:spPr>
      </p:sp>
      <p:sp>
        <p:nvSpPr>
          <p:cNvPr id="12" name="Text 10"/>
          <p:cNvSpPr/>
          <p:nvPr/>
        </p:nvSpPr>
        <p:spPr>
          <a:xfrm>
            <a:off x="1028343" y="4934069"/>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E5E0DF"/>
                </a:solidFill>
                <a:latin typeface="Roboto" pitchFamily="34" charset="0"/>
                <a:ea typeface="Roboto" pitchFamily="34" charset="-122"/>
                <a:cs typeface="Roboto" pitchFamily="34" charset="-120"/>
              </a:rPr>
              <a:t>Frontend</a:t>
            </a:r>
            <a:endParaRPr lang="en-US" sz="1750" dirty="0"/>
          </a:p>
        </p:txBody>
      </p:sp>
      <p:sp>
        <p:nvSpPr>
          <p:cNvPr id="13" name="Text 11"/>
          <p:cNvSpPr/>
          <p:nvPr/>
        </p:nvSpPr>
        <p:spPr>
          <a:xfrm>
            <a:off x="4940379" y="4934069"/>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Vue.js / Blade Templates</a:t>
            </a:r>
            <a:endParaRPr lang="en-US" sz="1750" dirty="0"/>
          </a:p>
        </p:txBody>
      </p:sp>
      <p:sp>
        <p:nvSpPr>
          <p:cNvPr id="14" name="Shape 12"/>
          <p:cNvSpPr/>
          <p:nvPr/>
        </p:nvSpPr>
        <p:spPr>
          <a:xfrm>
            <a:off x="801410" y="5440680"/>
            <a:ext cx="13027581" cy="650319"/>
          </a:xfrm>
          <a:prstGeom prst="rect">
            <a:avLst/>
          </a:prstGeom>
          <a:solidFill>
            <a:srgbClr val="000000">
              <a:alpha val="4000"/>
            </a:srgbClr>
          </a:solidFill>
          <a:ln/>
        </p:spPr>
      </p:sp>
      <p:sp>
        <p:nvSpPr>
          <p:cNvPr id="15" name="Text 13"/>
          <p:cNvSpPr/>
          <p:nvPr/>
        </p:nvSpPr>
        <p:spPr>
          <a:xfrm>
            <a:off x="1028343" y="5584388"/>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E5E0DF"/>
                </a:solidFill>
                <a:latin typeface="Roboto" pitchFamily="34" charset="0"/>
                <a:ea typeface="Roboto" pitchFamily="34" charset="-122"/>
                <a:cs typeface="Roboto" pitchFamily="34" charset="-120"/>
              </a:rPr>
              <a:t>Deployment</a:t>
            </a:r>
            <a:endParaRPr lang="en-US" sz="1750" dirty="0"/>
          </a:p>
        </p:txBody>
      </p:sp>
      <p:sp>
        <p:nvSpPr>
          <p:cNvPr id="16" name="Text 14"/>
          <p:cNvSpPr/>
          <p:nvPr/>
        </p:nvSpPr>
        <p:spPr>
          <a:xfrm>
            <a:off x="4940379" y="5584388"/>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Docker (containerised environment)</a:t>
            </a:r>
            <a:endParaRPr lang="en-US" sz="1750" dirty="0"/>
          </a:p>
        </p:txBody>
      </p:sp>
      <p:sp>
        <p:nvSpPr>
          <p:cNvPr id="17" name="Shape 15"/>
          <p:cNvSpPr/>
          <p:nvPr/>
        </p:nvSpPr>
        <p:spPr>
          <a:xfrm>
            <a:off x="801410" y="6090999"/>
            <a:ext cx="13027581" cy="650319"/>
          </a:xfrm>
          <a:prstGeom prst="rect">
            <a:avLst/>
          </a:prstGeom>
          <a:solidFill>
            <a:srgbClr val="FFFFFF">
              <a:alpha val="4000"/>
            </a:srgbClr>
          </a:solidFill>
          <a:ln/>
        </p:spPr>
      </p:sp>
      <p:sp>
        <p:nvSpPr>
          <p:cNvPr id="18" name="Text 16"/>
          <p:cNvSpPr/>
          <p:nvPr/>
        </p:nvSpPr>
        <p:spPr>
          <a:xfrm>
            <a:off x="1028343" y="6234708"/>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E5E0DF"/>
                </a:solidFill>
                <a:latin typeface="Roboto" pitchFamily="34" charset="0"/>
                <a:ea typeface="Roboto" pitchFamily="34" charset="-122"/>
                <a:cs typeface="Roboto" pitchFamily="34" charset="-120"/>
              </a:rPr>
              <a:t>Version Control</a:t>
            </a:r>
            <a:endParaRPr lang="en-US" sz="1750" dirty="0"/>
          </a:p>
        </p:txBody>
      </p:sp>
      <p:sp>
        <p:nvSpPr>
          <p:cNvPr id="19" name="Text 17"/>
          <p:cNvSpPr/>
          <p:nvPr/>
        </p:nvSpPr>
        <p:spPr>
          <a:xfrm>
            <a:off x="4940379" y="6234708"/>
            <a:ext cx="8661797"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Git</a:t>
            </a:r>
            <a:endParaRPr lang="en-US" sz="175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5226"/>
            <a:ext cx="14630400" cy="93443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14832" y="504349"/>
            <a:ext cx="8582501" cy="458510"/>
          </a:xfrm>
          <a:prstGeom prst="rect">
            <a:avLst/>
          </a:prstGeom>
          <a:noFill/>
          <a:ln/>
        </p:spPr>
        <p:txBody>
          <a:bodyPr wrap="none" lIns="0" tIns="0" rIns="0" bIns="0" rtlCol="0" anchor="t"/>
          <a:lstStyle/>
          <a:p>
            <a:pPr marL="0" indent="0" algn="l">
              <a:lnSpc>
                <a:spcPts val="3600"/>
              </a:lnSpc>
              <a:buNone/>
            </a:pPr>
            <a:r>
              <a:rPr lang="en-US" sz="2850" dirty="0">
                <a:solidFill>
                  <a:srgbClr val="FFFFFF"/>
                </a:solidFill>
                <a:latin typeface="Roboto Mono Medium" pitchFamily="34" charset="0"/>
                <a:ea typeface="Roboto Mono Medium" pitchFamily="34" charset="-122"/>
                <a:cs typeface="Roboto Mono Medium" pitchFamily="34" charset="-120"/>
              </a:rPr>
              <a:t>User Experience: Intuitive &amp; Accessible</a:t>
            </a:r>
            <a:endParaRPr lang="en-US" sz="2850" dirty="0"/>
          </a:p>
        </p:txBody>
      </p:sp>
      <p:pic>
        <p:nvPicPr>
          <p:cNvPr id="3" name="Image 0" descr="preencoded.png"/>
          <p:cNvPicPr>
            <a:picLocks noChangeAspect="1"/>
          </p:cNvPicPr>
          <p:nvPr/>
        </p:nvPicPr>
        <p:blipFill>
          <a:blip r:embed="rId3"/>
          <a:stretch>
            <a:fillRect/>
          </a:stretch>
        </p:blipFill>
        <p:spPr>
          <a:xfrm>
            <a:off x="1514832" y="1444228"/>
            <a:ext cx="5576649" cy="5576649"/>
          </a:xfrm>
          <a:prstGeom prst="rect">
            <a:avLst/>
          </a:prstGeom>
        </p:spPr>
      </p:pic>
      <p:sp>
        <p:nvSpPr>
          <p:cNvPr id="4" name="Text 1"/>
          <p:cNvSpPr/>
          <p:nvPr/>
        </p:nvSpPr>
        <p:spPr>
          <a:xfrm>
            <a:off x="7546538" y="1402913"/>
            <a:ext cx="5576649" cy="880110"/>
          </a:xfrm>
          <a:prstGeom prst="rect">
            <a:avLst/>
          </a:prstGeom>
          <a:noFill/>
          <a:ln/>
        </p:spPr>
        <p:txBody>
          <a:bodyPr wrap="square" lIns="0" tIns="0" rIns="0" bIns="0" rtlCol="0" anchor="t"/>
          <a:lstStyle/>
          <a:p>
            <a:pPr marL="0" indent="0" algn="l">
              <a:lnSpc>
                <a:spcPts val="2300"/>
              </a:lnSpc>
              <a:buNone/>
            </a:pPr>
            <a:r>
              <a:rPr lang="en-US" sz="1400" dirty="0">
                <a:solidFill>
                  <a:srgbClr val="E5E0DF"/>
                </a:solidFill>
                <a:latin typeface="Roboto" pitchFamily="34" charset="0"/>
                <a:ea typeface="Roboto" pitchFamily="34" charset="-122"/>
                <a:cs typeface="Roboto" pitchFamily="34" charset="-120"/>
              </a:rPr>
              <a:t>The user interface has been designed with a focus on intuitiveness and ease of use, ensuring that HR professionals can quickly adapt and efficiently manage their tasks.</a:t>
            </a:r>
            <a:endParaRPr lang="en-US" sz="1400" dirty="0"/>
          </a:p>
        </p:txBody>
      </p:sp>
      <p:sp>
        <p:nvSpPr>
          <p:cNvPr id="5" name="Text 2"/>
          <p:cNvSpPr/>
          <p:nvPr/>
        </p:nvSpPr>
        <p:spPr>
          <a:xfrm>
            <a:off x="7546538" y="2448044"/>
            <a:ext cx="5576649" cy="293370"/>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E5E0DF"/>
                </a:solidFill>
                <a:latin typeface="Roboto" pitchFamily="34" charset="0"/>
                <a:ea typeface="Roboto" pitchFamily="34" charset="-122"/>
                <a:cs typeface="Roboto" pitchFamily="34" charset="-120"/>
              </a:rPr>
              <a:t>Clean, modern design</a:t>
            </a:r>
            <a:endParaRPr lang="en-US" sz="1400" dirty="0"/>
          </a:p>
        </p:txBody>
      </p:sp>
      <p:sp>
        <p:nvSpPr>
          <p:cNvPr id="6" name="Text 3"/>
          <p:cNvSpPr/>
          <p:nvPr/>
        </p:nvSpPr>
        <p:spPr>
          <a:xfrm>
            <a:off x="7546538" y="2805589"/>
            <a:ext cx="5576649" cy="293370"/>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E5E0DF"/>
                </a:solidFill>
                <a:latin typeface="Roboto" pitchFamily="34" charset="0"/>
                <a:ea typeface="Roboto" pitchFamily="34" charset="-122"/>
                <a:cs typeface="Roboto" pitchFamily="34" charset="-120"/>
              </a:rPr>
              <a:t>Responsive across devices</a:t>
            </a:r>
            <a:endParaRPr lang="en-US" sz="1400" dirty="0"/>
          </a:p>
        </p:txBody>
      </p:sp>
      <p:sp>
        <p:nvSpPr>
          <p:cNvPr id="7" name="Text 4"/>
          <p:cNvSpPr/>
          <p:nvPr/>
        </p:nvSpPr>
        <p:spPr>
          <a:xfrm>
            <a:off x="7546538" y="3163133"/>
            <a:ext cx="5576649" cy="293370"/>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E5E0DF"/>
                </a:solidFill>
                <a:latin typeface="Roboto" pitchFamily="34" charset="0"/>
                <a:ea typeface="Roboto" pitchFamily="34" charset="-122"/>
                <a:cs typeface="Roboto" pitchFamily="34" charset="-120"/>
              </a:rPr>
              <a:t>Customisable dashboards</a:t>
            </a:r>
            <a:endParaRPr lang="en-US" sz="1400" dirty="0"/>
          </a:p>
        </p:txBody>
      </p:sp>
      <p:sp>
        <p:nvSpPr>
          <p:cNvPr id="8" name="Text 5"/>
          <p:cNvSpPr/>
          <p:nvPr/>
        </p:nvSpPr>
        <p:spPr>
          <a:xfrm>
            <a:off x="7546538" y="3520678"/>
            <a:ext cx="5576649" cy="293370"/>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E5E0DF"/>
                </a:solidFill>
                <a:latin typeface="Roboto" pitchFamily="34" charset="0"/>
                <a:ea typeface="Roboto" pitchFamily="34" charset="-122"/>
                <a:cs typeface="Roboto" pitchFamily="34" charset="-120"/>
              </a:rPr>
              <a:t>Accessible for all users</a:t>
            </a:r>
            <a:endParaRPr lang="en-US" sz="1400" dirty="0"/>
          </a:p>
        </p:txBody>
      </p:sp>
      <p:sp>
        <p:nvSpPr>
          <p:cNvPr id="9" name="Text 6"/>
          <p:cNvSpPr/>
          <p:nvPr/>
        </p:nvSpPr>
        <p:spPr>
          <a:xfrm>
            <a:off x="1514832" y="7433548"/>
            <a:ext cx="11600736" cy="293370"/>
          </a:xfrm>
          <a:prstGeom prst="rect">
            <a:avLst/>
          </a:prstGeom>
          <a:noFill/>
          <a:ln/>
        </p:spPr>
        <p:txBody>
          <a:bodyPr wrap="none" lIns="0" tIns="0" rIns="0" bIns="0" rtlCol="0" anchor="t"/>
          <a:lstStyle/>
          <a:p>
            <a:pPr marL="0" indent="0" algn="l">
              <a:lnSpc>
                <a:spcPts val="2300"/>
              </a:lnSpc>
              <a:buNone/>
            </a:pPr>
            <a:r>
              <a:rPr lang="en-US" sz="1400" dirty="0">
                <a:solidFill>
                  <a:srgbClr val="E5E0DF"/>
                </a:solidFill>
                <a:latin typeface="Roboto" pitchFamily="34" charset="0"/>
                <a:ea typeface="Roboto" pitchFamily="34" charset="-122"/>
                <a:cs typeface="Roboto" pitchFamily="34" charset="-120"/>
              </a:rPr>
              <a:t>A well-designed user experience is paramount to the successful adoption and daily use of any HRMS.</a:t>
            </a:r>
            <a:endParaRPr lang="en-US" sz="1400" dirty="0"/>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15226"/>
            <a:ext cx="14630400" cy="9860052"/>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360" y="-815226"/>
            <a:ext cx="14740759" cy="85421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471" y="764977"/>
            <a:ext cx="6758345" cy="541377"/>
          </a:xfrm>
          <a:prstGeom prst="rect">
            <a:avLst/>
          </a:prstGeom>
          <a:noFill/>
          <a:ln/>
        </p:spPr>
        <p:txBody>
          <a:bodyPr wrap="none" lIns="0" tIns="0" rIns="0" bIns="0" rtlCol="0" anchor="t"/>
          <a:lstStyle/>
          <a:p>
            <a:pPr marL="0" indent="0" algn="l">
              <a:lnSpc>
                <a:spcPts val="4250"/>
              </a:lnSpc>
              <a:buNone/>
            </a:pPr>
            <a:r>
              <a:rPr lang="en-US" sz="3400" dirty="0">
                <a:solidFill>
                  <a:srgbClr val="FFFFFF"/>
                </a:solidFill>
                <a:latin typeface="Roboto Mono Medium" pitchFamily="34" charset="0"/>
                <a:ea typeface="Roboto Mono Medium" pitchFamily="34" charset="-122"/>
                <a:cs typeface="Roboto Mono Medium" pitchFamily="34" charset="-120"/>
              </a:rPr>
              <a:t>Security Measures in Place</a:t>
            </a:r>
            <a:endParaRPr lang="en-US" sz="3400" dirty="0"/>
          </a:p>
        </p:txBody>
      </p:sp>
      <p:sp>
        <p:nvSpPr>
          <p:cNvPr id="4" name="Shape 1"/>
          <p:cNvSpPr/>
          <p:nvPr/>
        </p:nvSpPr>
        <p:spPr>
          <a:xfrm>
            <a:off x="6244471" y="1631156"/>
            <a:ext cx="3705582" cy="2340173"/>
          </a:xfrm>
          <a:prstGeom prst="roundRect">
            <a:avLst>
              <a:gd name="adj" fmla="val 6252"/>
            </a:avLst>
          </a:prstGeom>
          <a:solidFill>
            <a:srgbClr val="212121"/>
          </a:solidFill>
          <a:ln w="30480">
            <a:solidFill>
              <a:srgbClr val="595959"/>
            </a:solidFill>
            <a:prstDash val="solid"/>
          </a:ln>
        </p:spPr>
      </p:sp>
      <p:sp>
        <p:nvSpPr>
          <p:cNvPr id="5" name="Shape 2"/>
          <p:cNvSpPr/>
          <p:nvPr/>
        </p:nvSpPr>
        <p:spPr>
          <a:xfrm>
            <a:off x="6213991" y="1631156"/>
            <a:ext cx="121920" cy="2340173"/>
          </a:xfrm>
          <a:prstGeom prst="roundRect">
            <a:avLst>
              <a:gd name="adj" fmla="val 26649"/>
            </a:avLst>
          </a:prstGeom>
          <a:solidFill>
            <a:srgbClr val="DCFF50"/>
          </a:solidFill>
          <a:ln/>
        </p:spPr>
      </p:sp>
      <p:sp>
        <p:nvSpPr>
          <p:cNvPr id="6" name="Text 3"/>
          <p:cNvSpPr/>
          <p:nvPr/>
        </p:nvSpPr>
        <p:spPr>
          <a:xfrm>
            <a:off x="6582966" y="1878211"/>
            <a:ext cx="3120033" cy="676751"/>
          </a:xfrm>
          <a:prstGeom prst="rect">
            <a:avLst/>
          </a:prstGeom>
          <a:noFill/>
          <a:ln/>
        </p:spPr>
        <p:txBody>
          <a:bodyPr wrap="square" lIns="0" tIns="0" rIns="0" bIns="0" rtlCol="0" anchor="t"/>
          <a:lstStyle/>
          <a:p>
            <a:pPr marL="0" indent="0" algn="l">
              <a:lnSpc>
                <a:spcPts val="2650"/>
              </a:lnSpc>
              <a:buNone/>
            </a:pPr>
            <a:r>
              <a:rPr lang="en-US" sz="2100" dirty="0">
                <a:solidFill>
                  <a:srgbClr val="E5E0DF"/>
                </a:solidFill>
                <a:latin typeface="Roboto Mono Medium" pitchFamily="34" charset="0"/>
                <a:ea typeface="Roboto Mono Medium" pitchFamily="34" charset="-122"/>
                <a:cs typeface="Roboto Mono Medium" pitchFamily="34" charset="-120"/>
              </a:rPr>
              <a:t>Role-Based Access Control</a:t>
            </a:r>
            <a:endParaRPr lang="en-US" sz="2100" dirty="0"/>
          </a:p>
        </p:txBody>
      </p:sp>
      <p:sp>
        <p:nvSpPr>
          <p:cNvPr id="7" name="Text 4"/>
          <p:cNvSpPr/>
          <p:nvPr/>
        </p:nvSpPr>
        <p:spPr>
          <a:xfrm>
            <a:off x="6582966" y="2684859"/>
            <a:ext cx="3120033" cy="1039416"/>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itchFamily="34" charset="0"/>
                <a:ea typeface="Roboto" pitchFamily="34" charset="-122"/>
                <a:cs typeface="Roboto" pitchFamily="34" charset="-120"/>
              </a:rPr>
              <a:t>Ensuring users only access data relevant to their specific roles and permissions.</a:t>
            </a:r>
            <a:endParaRPr lang="en-US" sz="1700" dirty="0"/>
          </a:p>
        </p:txBody>
      </p:sp>
      <p:sp>
        <p:nvSpPr>
          <p:cNvPr id="8" name="Shape 5"/>
          <p:cNvSpPr/>
          <p:nvPr/>
        </p:nvSpPr>
        <p:spPr>
          <a:xfrm>
            <a:off x="10166628" y="1631156"/>
            <a:ext cx="3705701" cy="2340173"/>
          </a:xfrm>
          <a:prstGeom prst="roundRect">
            <a:avLst>
              <a:gd name="adj" fmla="val 6252"/>
            </a:avLst>
          </a:prstGeom>
          <a:solidFill>
            <a:srgbClr val="212121"/>
          </a:solidFill>
          <a:ln w="30480">
            <a:solidFill>
              <a:srgbClr val="595959"/>
            </a:solidFill>
            <a:prstDash val="solid"/>
          </a:ln>
        </p:spPr>
      </p:sp>
      <p:sp>
        <p:nvSpPr>
          <p:cNvPr id="9" name="Shape 6"/>
          <p:cNvSpPr/>
          <p:nvPr/>
        </p:nvSpPr>
        <p:spPr>
          <a:xfrm>
            <a:off x="10136148" y="1631156"/>
            <a:ext cx="121920" cy="2340173"/>
          </a:xfrm>
          <a:prstGeom prst="roundRect">
            <a:avLst>
              <a:gd name="adj" fmla="val 26649"/>
            </a:avLst>
          </a:prstGeom>
          <a:solidFill>
            <a:srgbClr val="DCFF50"/>
          </a:solidFill>
          <a:ln/>
        </p:spPr>
      </p:sp>
      <p:sp>
        <p:nvSpPr>
          <p:cNvPr id="10" name="Text 7"/>
          <p:cNvSpPr/>
          <p:nvPr/>
        </p:nvSpPr>
        <p:spPr>
          <a:xfrm>
            <a:off x="10505123" y="1878211"/>
            <a:ext cx="2707481" cy="338376"/>
          </a:xfrm>
          <a:prstGeom prst="rect">
            <a:avLst/>
          </a:prstGeom>
          <a:noFill/>
          <a:ln/>
        </p:spPr>
        <p:txBody>
          <a:bodyPr wrap="none" lIns="0" tIns="0" rIns="0" bIns="0" rtlCol="0" anchor="t"/>
          <a:lstStyle/>
          <a:p>
            <a:pPr marL="0" indent="0" algn="l">
              <a:lnSpc>
                <a:spcPts val="2650"/>
              </a:lnSpc>
              <a:buNone/>
            </a:pPr>
            <a:r>
              <a:rPr lang="en-US" sz="2100" dirty="0">
                <a:solidFill>
                  <a:srgbClr val="E5E0DF"/>
                </a:solidFill>
                <a:latin typeface="Roboto Mono Medium" pitchFamily="34" charset="0"/>
                <a:ea typeface="Roboto Mono Medium" pitchFamily="34" charset="-122"/>
                <a:cs typeface="Roboto Mono Medium" pitchFamily="34" charset="-120"/>
              </a:rPr>
              <a:t>Data Encryption</a:t>
            </a:r>
            <a:endParaRPr lang="en-US" sz="2100" dirty="0"/>
          </a:p>
        </p:txBody>
      </p:sp>
      <p:sp>
        <p:nvSpPr>
          <p:cNvPr id="11" name="Text 8"/>
          <p:cNvSpPr/>
          <p:nvPr/>
        </p:nvSpPr>
        <p:spPr>
          <a:xfrm>
            <a:off x="10505123" y="2346484"/>
            <a:ext cx="3120152" cy="1039416"/>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itchFamily="34" charset="0"/>
                <a:ea typeface="Roboto" pitchFamily="34" charset="-122"/>
                <a:cs typeface="Roboto" pitchFamily="34" charset="-120"/>
              </a:rPr>
              <a:t>All sensitive data is encrypted both in transit and at rest, protecting against breaches.</a:t>
            </a:r>
            <a:endParaRPr lang="en-US" sz="1700" dirty="0"/>
          </a:p>
        </p:txBody>
      </p:sp>
      <p:sp>
        <p:nvSpPr>
          <p:cNvPr id="12" name="Shape 9"/>
          <p:cNvSpPr/>
          <p:nvPr/>
        </p:nvSpPr>
        <p:spPr>
          <a:xfrm>
            <a:off x="6244471" y="4187904"/>
            <a:ext cx="3705582" cy="2340173"/>
          </a:xfrm>
          <a:prstGeom prst="roundRect">
            <a:avLst>
              <a:gd name="adj" fmla="val 6252"/>
            </a:avLst>
          </a:prstGeom>
          <a:solidFill>
            <a:srgbClr val="212121"/>
          </a:solidFill>
          <a:ln w="30480">
            <a:solidFill>
              <a:srgbClr val="595959"/>
            </a:solidFill>
            <a:prstDash val="solid"/>
          </a:ln>
        </p:spPr>
      </p:sp>
      <p:sp>
        <p:nvSpPr>
          <p:cNvPr id="13" name="Shape 10"/>
          <p:cNvSpPr/>
          <p:nvPr/>
        </p:nvSpPr>
        <p:spPr>
          <a:xfrm>
            <a:off x="6213991" y="4187904"/>
            <a:ext cx="121920" cy="2340173"/>
          </a:xfrm>
          <a:prstGeom prst="roundRect">
            <a:avLst>
              <a:gd name="adj" fmla="val 26649"/>
            </a:avLst>
          </a:prstGeom>
          <a:solidFill>
            <a:srgbClr val="DCFF50"/>
          </a:solidFill>
          <a:ln/>
        </p:spPr>
      </p:sp>
      <p:sp>
        <p:nvSpPr>
          <p:cNvPr id="14" name="Text 11"/>
          <p:cNvSpPr/>
          <p:nvPr/>
        </p:nvSpPr>
        <p:spPr>
          <a:xfrm>
            <a:off x="6582966" y="4434959"/>
            <a:ext cx="3120033" cy="676751"/>
          </a:xfrm>
          <a:prstGeom prst="rect">
            <a:avLst/>
          </a:prstGeom>
          <a:noFill/>
          <a:ln/>
        </p:spPr>
        <p:txBody>
          <a:bodyPr wrap="square" lIns="0" tIns="0" rIns="0" bIns="0" rtlCol="0" anchor="t"/>
          <a:lstStyle/>
          <a:p>
            <a:pPr marL="0" indent="0" algn="l">
              <a:lnSpc>
                <a:spcPts val="2650"/>
              </a:lnSpc>
              <a:buNone/>
            </a:pPr>
            <a:r>
              <a:rPr lang="en-US" sz="2100" dirty="0">
                <a:solidFill>
                  <a:srgbClr val="E5E0DF"/>
                </a:solidFill>
                <a:latin typeface="Roboto Mono Medium" pitchFamily="34" charset="0"/>
                <a:ea typeface="Roboto Mono Medium" pitchFamily="34" charset="-122"/>
                <a:cs typeface="Roboto Mono Medium" pitchFamily="34" charset="-120"/>
              </a:rPr>
              <a:t>Regular Security Audits</a:t>
            </a:r>
            <a:endParaRPr lang="en-US" sz="2100" dirty="0"/>
          </a:p>
        </p:txBody>
      </p:sp>
      <p:sp>
        <p:nvSpPr>
          <p:cNvPr id="15" name="Text 12"/>
          <p:cNvSpPr/>
          <p:nvPr/>
        </p:nvSpPr>
        <p:spPr>
          <a:xfrm>
            <a:off x="6582966" y="5241607"/>
            <a:ext cx="3120033" cy="1039416"/>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itchFamily="34" charset="0"/>
                <a:ea typeface="Roboto" pitchFamily="34" charset="-122"/>
                <a:cs typeface="Roboto" pitchFamily="34" charset="-120"/>
              </a:rPr>
              <a:t>Continuous monitoring and auditing to identify and mitigate potential vulnerabilities.</a:t>
            </a:r>
            <a:endParaRPr lang="en-US" sz="1700" dirty="0"/>
          </a:p>
        </p:txBody>
      </p:sp>
      <p:sp>
        <p:nvSpPr>
          <p:cNvPr id="16" name="Text 13"/>
          <p:cNvSpPr/>
          <p:nvPr/>
        </p:nvSpPr>
        <p:spPr>
          <a:xfrm>
            <a:off x="6244471" y="6771680"/>
            <a:ext cx="7627858" cy="692944"/>
          </a:xfrm>
          <a:prstGeom prst="rect">
            <a:avLst/>
          </a:prstGeom>
          <a:noFill/>
          <a:ln/>
        </p:spPr>
        <p:txBody>
          <a:bodyPr wrap="square" lIns="0" tIns="0" rIns="0" bIns="0" rtlCol="0" anchor="t"/>
          <a:lstStyle/>
          <a:p>
            <a:pPr marL="0" indent="0" algn="l">
              <a:lnSpc>
                <a:spcPts val="2700"/>
              </a:lnSpc>
              <a:buNone/>
            </a:pPr>
            <a:r>
              <a:rPr lang="en-US" sz="1700" dirty="0">
                <a:solidFill>
                  <a:srgbClr val="E5E0DF"/>
                </a:solidFill>
                <a:latin typeface="Roboto" pitchFamily="34" charset="0"/>
                <a:ea typeface="Roboto" pitchFamily="34" charset="-122"/>
                <a:cs typeface="Roboto" pitchFamily="34" charset="-120"/>
              </a:rPr>
              <a:t>Security is not an afterthought; it is woven into the very fabric of our HRMS, providing peace of mind for both HR and technical teams.</a:t>
            </a:r>
            <a:endParaRPr lang="en-US" sz="1700" dirty="0"/>
          </a:p>
        </p:txBody>
      </p:sp>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577" y="0"/>
            <a:ext cx="15869645" cy="82295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349222" y="433864"/>
            <a:ext cx="5464016" cy="392549"/>
          </a:xfrm>
          <a:prstGeom prst="rect">
            <a:avLst/>
          </a:prstGeom>
          <a:noFill/>
          <a:ln/>
        </p:spPr>
        <p:txBody>
          <a:bodyPr wrap="none" lIns="0" tIns="0" rIns="0" bIns="0" rtlCol="0" anchor="t"/>
          <a:lstStyle/>
          <a:p>
            <a:pPr marL="0" indent="0" algn="l">
              <a:lnSpc>
                <a:spcPts val="3050"/>
              </a:lnSpc>
              <a:buNone/>
            </a:pPr>
            <a:r>
              <a:rPr lang="en-US" sz="2450" dirty="0">
                <a:solidFill>
                  <a:srgbClr val="FFFFFF"/>
                </a:solidFill>
                <a:latin typeface="Roboto Mono Medium" pitchFamily="34" charset="0"/>
                <a:ea typeface="Roboto Mono Medium" pitchFamily="34" charset="-122"/>
                <a:cs typeface="Roboto Mono Medium" pitchFamily="34" charset="-120"/>
              </a:rPr>
              <a:t>Scalability for Future Growth</a:t>
            </a:r>
            <a:endParaRPr lang="en-US" sz="2450" dirty="0"/>
          </a:p>
        </p:txBody>
      </p:sp>
      <p:pic>
        <p:nvPicPr>
          <p:cNvPr id="3" name="Image 0" descr="preencoded.png"/>
          <p:cNvPicPr>
            <a:picLocks noChangeAspect="1"/>
          </p:cNvPicPr>
          <p:nvPr/>
        </p:nvPicPr>
        <p:blipFill>
          <a:blip r:embed="rId3"/>
          <a:stretch>
            <a:fillRect/>
          </a:stretch>
        </p:blipFill>
        <p:spPr>
          <a:xfrm>
            <a:off x="3687366" y="1140381"/>
            <a:ext cx="7255550" cy="4936212"/>
          </a:xfrm>
          <a:prstGeom prst="rect">
            <a:avLst/>
          </a:prstGeom>
        </p:spPr>
      </p:pic>
      <p:sp>
        <p:nvSpPr>
          <p:cNvPr id="4" name="Text 1"/>
          <p:cNvSpPr/>
          <p:nvPr/>
        </p:nvSpPr>
        <p:spPr>
          <a:xfrm>
            <a:off x="3902992" y="4845384"/>
            <a:ext cx="1499685" cy="279329"/>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Startup</a:t>
            </a:r>
            <a:endParaRPr lang="en-US" sz="13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4407957" y="3241417"/>
            <a:ext cx="496585" cy="496584"/>
          </a:xfrm>
          <a:prstGeom prst="rect">
            <a:avLst/>
          </a:prstGeom>
        </p:spPr>
      </p:pic>
      <p:sp>
        <p:nvSpPr>
          <p:cNvPr id="6" name="Text 2"/>
          <p:cNvSpPr/>
          <p:nvPr/>
        </p:nvSpPr>
        <p:spPr>
          <a:xfrm>
            <a:off x="5680920" y="4238930"/>
            <a:ext cx="1499685" cy="558658"/>
          </a:xfrm>
          <a:prstGeom prst="rect">
            <a:avLst/>
          </a:prstGeom>
          <a:noFill/>
          <a:ln/>
        </p:spPr>
        <p:txBody>
          <a:bodyPr wrap="square" lIns="0" tIns="0" rIns="0" bIns="0" rtlCol="0" anchor="t"/>
          <a:lstStyle/>
          <a:p>
            <a:pPr marL="0" indent="0" algn="ctr">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Growing Team</a:t>
            </a:r>
            <a:endParaRPr lang="en-US" sz="1350" dirty="0"/>
          </a:p>
        </p:txBody>
      </p:sp>
      <p:pic>
        <p:nvPicPr>
          <p:cNvPr id="7"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6175797" y="2774627"/>
            <a:ext cx="496585" cy="496584"/>
          </a:xfrm>
          <a:prstGeom prst="rect">
            <a:avLst/>
          </a:prstGeom>
        </p:spPr>
      </p:pic>
      <p:sp>
        <p:nvSpPr>
          <p:cNvPr id="8" name="Text 3"/>
          <p:cNvSpPr/>
          <p:nvPr/>
        </p:nvSpPr>
        <p:spPr>
          <a:xfrm>
            <a:off x="7448760" y="3911805"/>
            <a:ext cx="1499685" cy="279329"/>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Mid-Market</a:t>
            </a:r>
            <a:endParaRPr lang="en-US" sz="1350" dirty="0"/>
          </a:p>
        </p:txBody>
      </p:sp>
      <p:pic>
        <p:nvPicPr>
          <p:cNvPr id="9"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7943638" y="2307838"/>
            <a:ext cx="496584" cy="496585"/>
          </a:xfrm>
          <a:prstGeom prst="rect">
            <a:avLst/>
          </a:prstGeom>
        </p:spPr>
      </p:pic>
      <p:sp>
        <p:nvSpPr>
          <p:cNvPr id="10" name="Text 4"/>
          <p:cNvSpPr/>
          <p:nvPr/>
        </p:nvSpPr>
        <p:spPr>
          <a:xfrm>
            <a:off x="9206513" y="3445016"/>
            <a:ext cx="1499685" cy="279329"/>
          </a:xfrm>
          <a:prstGeom prst="rect">
            <a:avLst/>
          </a:prstGeom>
          <a:noFill/>
          <a:ln/>
        </p:spPr>
        <p:txBody>
          <a:bodyPr wrap="none" lIns="0" tIns="0" rIns="0" bIns="0" rtlCol="0" anchor="t"/>
          <a:lstStyle/>
          <a:p>
            <a:pPr marL="0" indent="0" algn="ctr">
              <a:lnSpc>
                <a:spcPts val="1650"/>
              </a:lnSpc>
              <a:buNone/>
            </a:pPr>
            <a:r>
              <a:rPr lang="en-US" sz="1350" dirty="0">
                <a:solidFill>
                  <a:srgbClr val="000000"/>
                </a:solidFill>
                <a:latin typeface="Roboto Mono Medium" pitchFamily="34" charset="0"/>
                <a:ea typeface="Roboto Mono Medium" pitchFamily="34" charset="-122"/>
                <a:cs typeface="Roboto Mono Medium" pitchFamily="34" charset="-120"/>
              </a:rPr>
              <a:t>Enterprise</a:t>
            </a:r>
            <a:endParaRPr lang="en-US" sz="1350" dirty="0"/>
          </a:p>
        </p:txBody>
      </p:sp>
      <p:pic>
        <p:nvPicPr>
          <p:cNvPr id="11"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9711478" y="1841049"/>
            <a:ext cx="496585" cy="496584"/>
          </a:xfrm>
          <a:prstGeom prst="rect">
            <a:avLst/>
          </a:prstGeom>
        </p:spPr>
      </p:pic>
      <p:sp>
        <p:nvSpPr>
          <p:cNvPr id="12" name="Text 5"/>
          <p:cNvSpPr/>
          <p:nvPr/>
        </p:nvSpPr>
        <p:spPr>
          <a:xfrm>
            <a:off x="2349222" y="6253163"/>
            <a:ext cx="9931956" cy="502444"/>
          </a:xfrm>
          <a:prstGeom prst="rect">
            <a:avLst/>
          </a:prstGeom>
          <a:noFill/>
          <a:ln/>
        </p:spPr>
        <p:txBody>
          <a:bodyPr wrap="square" lIns="0" tIns="0" rIns="0" bIns="0" rtlCol="0" anchor="t"/>
          <a:lstStyle/>
          <a:p>
            <a:pPr marL="0" indent="0" algn="l">
              <a:lnSpc>
                <a:spcPts val="1950"/>
              </a:lnSpc>
              <a:buNone/>
            </a:pPr>
            <a:r>
              <a:rPr lang="en-US" sz="1200" dirty="0">
                <a:solidFill>
                  <a:srgbClr val="E5E0DF"/>
                </a:solidFill>
                <a:latin typeface="Roboto" pitchFamily="34" charset="0"/>
                <a:ea typeface="Roboto" pitchFamily="34" charset="-122"/>
                <a:cs typeface="Roboto" pitchFamily="34" charset="-120"/>
              </a:rPr>
              <a:t>The Laravel HRMS is engineered for scalability, ensuring it can evolve and adapt as your organization grows. Whether you're a small startup or a large enterprise, the system is designed to meet your changing needs.</a:t>
            </a:r>
            <a:endParaRPr lang="en-US" sz="1200" dirty="0"/>
          </a:p>
        </p:txBody>
      </p:sp>
      <p:sp>
        <p:nvSpPr>
          <p:cNvPr id="13" name="Text 6"/>
          <p:cNvSpPr/>
          <p:nvPr/>
        </p:nvSpPr>
        <p:spPr>
          <a:xfrm>
            <a:off x="2349222" y="6932176"/>
            <a:ext cx="9931956" cy="2512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E0DF"/>
                </a:solidFill>
                <a:latin typeface="Roboto" pitchFamily="34" charset="0"/>
                <a:ea typeface="Roboto" pitchFamily="34" charset="-122"/>
                <a:cs typeface="Roboto" pitchFamily="34" charset="-120"/>
              </a:rPr>
              <a:t>Horizontal and vertical scaling options</a:t>
            </a:r>
            <a:endParaRPr lang="en-US" sz="1200" dirty="0"/>
          </a:p>
        </p:txBody>
      </p:sp>
      <p:sp>
        <p:nvSpPr>
          <p:cNvPr id="14" name="Text 7"/>
          <p:cNvSpPr/>
          <p:nvPr/>
        </p:nvSpPr>
        <p:spPr>
          <a:xfrm>
            <a:off x="2349222" y="7238286"/>
            <a:ext cx="9931956" cy="2512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E0DF"/>
                </a:solidFill>
                <a:latin typeface="Roboto" pitchFamily="34" charset="0"/>
                <a:ea typeface="Roboto" pitchFamily="34" charset="-122"/>
                <a:cs typeface="Roboto" pitchFamily="34" charset="-120"/>
              </a:rPr>
              <a:t>Optimised database performance</a:t>
            </a:r>
            <a:endParaRPr lang="en-US" sz="1200" dirty="0"/>
          </a:p>
        </p:txBody>
      </p:sp>
      <p:sp>
        <p:nvSpPr>
          <p:cNvPr id="15" name="Text 8"/>
          <p:cNvSpPr/>
          <p:nvPr/>
        </p:nvSpPr>
        <p:spPr>
          <a:xfrm>
            <a:off x="2349222" y="7544395"/>
            <a:ext cx="9931956" cy="25122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E5E0DF"/>
                </a:solidFill>
                <a:latin typeface="Roboto" pitchFamily="34" charset="0"/>
                <a:ea typeface="Roboto" pitchFamily="34" charset="-122"/>
                <a:cs typeface="Roboto" pitchFamily="34" charset="-120"/>
              </a:rPr>
              <a:t>Modular architecture for feature expansion</a:t>
            </a:r>
            <a:endParaRPr lang="en-US" sz="1200" dirty="0"/>
          </a:p>
        </p:txBody>
      </p:sp>
      <p:pic>
        <p:nvPicPr>
          <p:cNvPr id="17" name="Pictur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173421"/>
            <a:ext cx="14740759" cy="84030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02826"/>
            <a:ext cx="7076003" cy="566976"/>
          </a:xfrm>
          <a:prstGeom prst="rect">
            <a:avLst/>
          </a:prstGeom>
          <a:noFill/>
          <a:ln/>
        </p:spPr>
        <p:txBody>
          <a:bodyPr wrap="none" lIns="0" tIns="0" rIns="0" bIns="0" rtlCol="0" anchor="t"/>
          <a:lstStyle/>
          <a:p>
            <a:pPr marL="0" indent="0" algn="l">
              <a:lnSpc>
                <a:spcPts val="4450"/>
              </a:lnSpc>
              <a:buNone/>
            </a:pPr>
            <a:r>
              <a:rPr lang="en-US" sz="3550" dirty="0">
                <a:solidFill>
                  <a:srgbClr val="FFFFFF"/>
                </a:solidFill>
                <a:latin typeface="Roboto Mono Medium" pitchFamily="34" charset="0"/>
                <a:ea typeface="Roboto Mono Medium" pitchFamily="34" charset="-122"/>
                <a:cs typeface="Roboto Mono Medium" pitchFamily="34" charset="-120"/>
              </a:rPr>
              <a:t>Key Takeaways &amp; Next Steps</a:t>
            </a:r>
            <a:endParaRPr lang="en-US" sz="3550" dirty="0"/>
          </a:p>
        </p:txBody>
      </p:sp>
      <p:sp>
        <p:nvSpPr>
          <p:cNvPr id="4" name="Shape 1"/>
          <p:cNvSpPr/>
          <p:nvPr/>
        </p:nvSpPr>
        <p:spPr>
          <a:xfrm>
            <a:off x="793790" y="1609963"/>
            <a:ext cx="7556421" cy="3694033"/>
          </a:xfrm>
          <a:prstGeom prst="roundRect">
            <a:avLst>
              <a:gd name="adj" fmla="val 921"/>
            </a:avLst>
          </a:prstGeom>
          <a:solidFill>
            <a:srgbClr val="404040"/>
          </a:solidFill>
          <a:ln/>
        </p:spPr>
      </p:sp>
      <p:sp>
        <p:nvSpPr>
          <p:cNvPr id="5" name="Shape 2"/>
          <p:cNvSpPr/>
          <p:nvPr/>
        </p:nvSpPr>
        <p:spPr>
          <a:xfrm>
            <a:off x="793790" y="1609963"/>
            <a:ext cx="3778210" cy="2387084"/>
          </a:xfrm>
          <a:prstGeom prst="roundRect">
            <a:avLst>
              <a:gd name="adj" fmla="val 1425"/>
            </a:avLst>
          </a:prstGeom>
          <a:solidFill>
            <a:srgbClr val="404040"/>
          </a:solidFill>
          <a:ln/>
        </p:spPr>
      </p:sp>
      <p:sp>
        <p:nvSpPr>
          <p:cNvPr id="6" name="Text 3"/>
          <p:cNvSpPr/>
          <p:nvPr/>
        </p:nvSpPr>
        <p:spPr>
          <a:xfrm>
            <a:off x="1020604" y="18367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Modern Solution</a:t>
            </a:r>
            <a:endParaRPr lang="en-US" sz="2200" dirty="0"/>
          </a:p>
        </p:txBody>
      </p:sp>
      <p:sp>
        <p:nvSpPr>
          <p:cNvPr id="7" name="Text 4"/>
          <p:cNvSpPr/>
          <p:nvPr/>
        </p:nvSpPr>
        <p:spPr>
          <a:xfrm>
            <a:off x="1020604" y="2327196"/>
            <a:ext cx="3324582"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A cutting-edge HRMS built on the robust Laravel framework.</a:t>
            </a:r>
            <a:endParaRPr lang="en-US" sz="1750" dirty="0"/>
          </a:p>
        </p:txBody>
      </p:sp>
      <p:sp>
        <p:nvSpPr>
          <p:cNvPr id="8" name="Shape 5"/>
          <p:cNvSpPr/>
          <p:nvPr/>
        </p:nvSpPr>
        <p:spPr>
          <a:xfrm>
            <a:off x="4572000" y="1609963"/>
            <a:ext cx="3778210" cy="2387084"/>
          </a:xfrm>
          <a:prstGeom prst="rect">
            <a:avLst/>
          </a:prstGeom>
          <a:solidFill>
            <a:srgbClr val="404040"/>
          </a:solidFill>
          <a:ln/>
        </p:spPr>
      </p:sp>
      <p:sp>
        <p:nvSpPr>
          <p:cNvPr id="9" name="Shape 6"/>
          <p:cNvSpPr/>
          <p:nvPr/>
        </p:nvSpPr>
        <p:spPr>
          <a:xfrm>
            <a:off x="4572000" y="1609963"/>
            <a:ext cx="30480" cy="2387084"/>
          </a:xfrm>
          <a:prstGeom prst="roundRect">
            <a:avLst>
              <a:gd name="adj" fmla="val 111628"/>
            </a:avLst>
          </a:prstGeom>
          <a:solidFill>
            <a:srgbClr val="595959"/>
          </a:solidFill>
          <a:ln/>
        </p:spPr>
      </p:sp>
      <p:sp>
        <p:nvSpPr>
          <p:cNvPr id="10" name="Text 7"/>
          <p:cNvSpPr/>
          <p:nvPr/>
        </p:nvSpPr>
        <p:spPr>
          <a:xfrm>
            <a:off x="4798814" y="1836777"/>
            <a:ext cx="3324582"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Efficient Operations</a:t>
            </a:r>
            <a:endParaRPr lang="en-US" sz="2200" dirty="0"/>
          </a:p>
        </p:txBody>
      </p:sp>
      <p:sp>
        <p:nvSpPr>
          <p:cNvPr id="11" name="Text 8"/>
          <p:cNvSpPr/>
          <p:nvPr/>
        </p:nvSpPr>
        <p:spPr>
          <a:xfrm>
            <a:off x="4798814" y="2681526"/>
            <a:ext cx="3324582"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Streamlines HR processes, reducing manual effort and errors.</a:t>
            </a:r>
            <a:endParaRPr lang="en-US" sz="1750" dirty="0"/>
          </a:p>
        </p:txBody>
      </p:sp>
      <p:sp>
        <p:nvSpPr>
          <p:cNvPr id="12" name="Shape 9"/>
          <p:cNvSpPr/>
          <p:nvPr/>
        </p:nvSpPr>
        <p:spPr>
          <a:xfrm>
            <a:off x="793790" y="3997047"/>
            <a:ext cx="7556421" cy="1306949"/>
          </a:xfrm>
          <a:prstGeom prst="rect">
            <a:avLst/>
          </a:prstGeom>
          <a:solidFill>
            <a:srgbClr val="404040"/>
          </a:solidFill>
          <a:ln/>
        </p:spPr>
      </p:sp>
      <p:sp>
        <p:nvSpPr>
          <p:cNvPr id="13" name="Shape 10"/>
          <p:cNvSpPr/>
          <p:nvPr/>
        </p:nvSpPr>
        <p:spPr>
          <a:xfrm>
            <a:off x="793790" y="3997047"/>
            <a:ext cx="7556421" cy="30480"/>
          </a:xfrm>
          <a:prstGeom prst="roundRect">
            <a:avLst>
              <a:gd name="adj" fmla="val 111628"/>
            </a:avLst>
          </a:prstGeom>
          <a:solidFill>
            <a:srgbClr val="595959"/>
          </a:solidFill>
          <a:ln/>
        </p:spPr>
      </p:sp>
      <p:sp>
        <p:nvSpPr>
          <p:cNvPr id="14" name="Text 11"/>
          <p:cNvSpPr/>
          <p:nvPr/>
        </p:nvSpPr>
        <p:spPr>
          <a:xfrm>
            <a:off x="1020604" y="4223861"/>
            <a:ext cx="2890837"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Secure &amp; Scalable</a:t>
            </a:r>
            <a:endParaRPr lang="en-US" sz="2200" dirty="0"/>
          </a:p>
        </p:txBody>
      </p:sp>
      <p:sp>
        <p:nvSpPr>
          <p:cNvPr id="15" name="Text 12"/>
          <p:cNvSpPr/>
          <p:nvPr/>
        </p:nvSpPr>
        <p:spPr>
          <a:xfrm>
            <a:off x="1020604" y="4714280"/>
            <a:ext cx="7102793" cy="362903"/>
          </a:xfrm>
          <a:prstGeom prst="rect">
            <a:avLst/>
          </a:prstGeom>
          <a:noFill/>
          <a:ln/>
        </p:spPr>
        <p:txBody>
          <a:bodyPr wrap="non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Ensures data integrity and grows with your organization.</a:t>
            </a:r>
            <a:endParaRPr lang="en-US" sz="1750" dirty="0"/>
          </a:p>
        </p:txBody>
      </p:sp>
      <p:sp>
        <p:nvSpPr>
          <p:cNvPr id="16" name="Text 13"/>
          <p:cNvSpPr/>
          <p:nvPr/>
        </p:nvSpPr>
        <p:spPr>
          <a:xfrm>
            <a:off x="793790" y="5559147"/>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We invite you to experience the future of HR management. For a detailed demonstration or to discuss how our Laravel HRMS can benefit your organization, please contact us.</a:t>
            </a:r>
            <a:endParaRPr lang="en-US" sz="1750" dirty="0"/>
          </a:p>
        </p:txBody>
      </p:sp>
      <p:pic>
        <p:nvPicPr>
          <p:cNvPr id="17" name="Image 1" descr="preencoded.png"/>
          <p:cNvPicPr>
            <a:picLocks noChangeAspect="1"/>
          </p:cNvPicPr>
          <p:nvPr/>
        </p:nvPicPr>
        <p:blipFill>
          <a:blip r:embed="rId4"/>
          <a:stretch>
            <a:fillRect/>
          </a:stretch>
        </p:blipFill>
        <p:spPr>
          <a:xfrm>
            <a:off x="793790" y="6903006"/>
            <a:ext cx="2118241" cy="623768"/>
          </a:xfrm>
          <a:prstGeom prst="rect">
            <a:avLst/>
          </a:prstGeom>
        </p:spPr>
      </p:pic>
      <p:pic>
        <p:nvPicPr>
          <p:cNvPr id="18" name="Image 2" descr="preencoded.png"/>
          <p:cNvPicPr>
            <a:picLocks noChangeAspect="1"/>
          </p:cNvPicPr>
          <p:nvPr/>
        </p:nvPicPr>
        <p:blipFill>
          <a:blip r:embed="rId5"/>
          <a:stretch>
            <a:fillRect/>
          </a:stretch>
        </p:blipFill>
        <p:spPr>
          <a:xfrm>
            <a:off x="3025378" y="6903006"/>
            <a:ext cx="1612583" cy="623768"/>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6395" y="0"/>
            <a:ext cx="15016795" cy="84818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16" y="0"/>
            <a:ext cx="14728516" cy="8686800"/>
          </a:xfrm>
          <a:prstGeom prst="rect">
            <a:avLst/>
          </a:prstGeom>
        </p:spPr>
      </p:pic>
    </p:spTree>
    <p:extLst>
      <p:ext uri="{BB962C8B-B14F-4D97-AF65-F5344CB8AC3E}">
        <p14:creationId xmlns:p14="http://schemas.microsoft.com/office/powerpoint/2010/main" val="2148350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399" cy="8339959"/>
          </a:xfrm>
          <a:prstGeom prst="rect">
            <a:avLst/>
          </a:prstGeom>
        </p:spPr>
      </p:pic>
    </p:spTree>
    <p:extLst>
      <p:ext uri="{BB962C8B-B14F-4D97-AF65-F5344CB8AC3E}">
        <p14:creationId xmlns:p14="http://schemas.microsoft.com/office/powerpoint/2010/main" val="1705107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599"/>
          </a:xfrm>
          <a:prstGeom prst="rect">
            <a:avLst/>
          </a:prstGeom>
        </p:spPr>
      </p:pic>
    </p:spTree>
    <p:extLst>
      <p:ext uri="{BB962C8B-B14F-4D97-AF65-F5344CB8AC3E}">
        <p14:creationId xmlns:p14="http://schemas.microsoft.com/office/powerpoint/2010/main" val="181130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399" cy="8434551"/>
          </a:xfrm>
          <a:prstGeom prst="rect">
            <a:avLst/>
          </a:prstGeom>
        </p:spPr>
      </p:pic>
    </p:spTree>
    <p:extLst>
      <p:ext uri="{BB962C8B-B14F-4D97-AF65-F5344CB8AC3E}">
        <p14:creationId xmlns:p14="http://schemas.microsoft.com/office/powerpoint/2010/main" val="1249592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4630400" cy="8718330"/>
          </a:xfrm>
          <a:prstGeom prst="rect">
            <a:avLst/>
          </a:prstGeom>
        </p:spPr>
      </p:pic>
    </p:spTree>
    <p:extLst>
      <p:ext uri="{BB962C8B-B14F-4D97-AF65-F5344CB8AC3E}">
        <p14:creationId xmlns:p14="http://schemas.microsoft.com/office/powerpoint/2010/main" val="1998664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400" cy="8403021"/>
          </a:xfrm>
          <a:prstGeom prst="rect">
            <a:avLst/>
          </a:prstGeom>
        </p:spPr>
      </p:pic>
    </p:spTree>
    <p:extLst>
      <p:ext uri="{BB962C8B-B14F-4D97-AF65-F5344CB8AC3E}">
        <p14:creationId xmlns:p14="http://schemas.microsoft.com/office/powerpoint/2010/main" val="35338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1145073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400" cy="8403021"/>
          </a:xfrm>
          <a:prstGeom prst="rect">
            <a:avLst/>
          </a:prstGeom>
        </p:spPr>
      </p:pic>
    </p:spTree>
    <p:extLst>
      <p:ext uri="{BB962C8B-B14F-4D97-AF65-F5344CB8AC3E}">
        <p14:creationId xmlns:p14="http://schemas.microsoft.com/office/powerpoint/2010/main" val="1994584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30401" cy="8371489"/>
          </a:xfrm>
          <a:prstGeom prst="rect">
            <a:avLst/>
          </a:prstGeom>
        </p:spPr>
      </p:pic>
    </p:spTree>
    <p:extLst>
      <p:ext uri="{BB962C8B-B14F-4D97-AF65-F5344CB8AC3E}">
        <p14:creationId xmlns:p14="http://schemas.microsoft.com/office/powerpoint/2010/main" val="3435283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3622541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907517"/>
          </a:xfrm>
          <a:prstGeom prst="rect">
            <a:avLst/>
          </a:prstGeom>
        </p:spPr>
      </p:pic>
    </p:spTree>
    <p:extLst>
      <p:ext uri="{BB962C8B-B14F-4D97-AF65-F5344CB8AC3E}">
        <p14:creationId xmlns:p14="http://schemas.microsoft.com/office/powerpoint/2010/main" val="3904108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926" y="0"/>
            <a:ext cx="14760326" cy="8387255"/>
          </a:xfrm>
          <a:prstGeom prst="rect">
            <a:avLst/>
          </a:prstGeom>
        </p:spPr>
      </p:pic>
    </p:spTree>
    <p:extLst>
      <p:ext uri="{BB962C8B-B14F-4D97-AF65-F5344CB8AC3E}">
        <p14:creationId xmlns:p14="http://schemas.microsoft.com/office/powerpoint/2010/main" val="627394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4630400" cy="8513379"/>
          </a:xfrm>
          <a:prstGeom prst="rect">
            <a:avLst/>
          </a:prstGeom>
        </p:spPr>
      </p:pic>
    </p:spTree>
    <p:extLst>
      <p:ext uri="{BB962C8B-B14F-4D97-AF65-F5344CB8AC3E}">
        <p14:creationId xmlns:p14="http://schemas.microsoft.com/office/powerpoint/2010/main" val="2085691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399" cy="8481848"/>
          </a:xfrm>
          <a:prstGeom prst="rect">
            <a:avLst/>
          </a:prstGeom>
        </p:spPr>
      </p:pic>
    </p:spTree>
    <p:extLst>
      <p:ext uri="{BB962C8B-B14F-4D97-AF65-F5344CB8AC3E}">
        <p14:creationId xmlns:p14="http://schemas.microsoft.com/office/powerpoint/2010/main" val="3714114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891752"/>
          </a:xfrm>
          <a:prstGeom prst="rect">
            <a:avLst/>
          </a:prstGeom>
        </p:spPr>
      </p:pic>
    </p:spTree>
    <p:extLst>
      <p:ext uri="{BB962C8B-B14F-4D97-AF65-F5344CB8AC3E}">
        <p14:creationId xmlns:p14="http://schemas.microsoft.com/office/powerpoint/2010/main" val="344635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4630400" cy="8229600"/>
          </a:xfrm>
          <a:prstGeom prst="rect">
            <a:avLst/>
          </a:prstGeom>
        </p:spPr>
      </p:pic>
    </p:spTree>
    <p:extLst>
      <p:ext uri="{BB962C8B-B14F-4D97-AF65-F5344CB8AC3E}">
        <p14:creationId xmlns:p14="http://schemas.microsoft.com/office/powerpoint/2010/main" val="1892401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639503"/>
          </a:xfrm>
          <a:prstGeom prst="rect">
            <a:avLst/>
          </a:prstGeom>
        </p:spPr>
      </p:pic>
    </p:spTree>
    <p:extLst>
      <p:ext uri="{BB962C8B-B14F-4D97-AF65-F5344CB8AC3E}">
        <p14:creationId xmlns:p14="http://schemas.microsoft.com/office/powerpoint/2010/main" val="1356215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482</Words>
  <Application>Microsoft Office PowerPoint</Application>
  <PresentationFormat>Custom</PresentationFormat>
  <Paragraphs>67</Paragraphs>
  <Slides>24</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Roboto Mono Medium</vt:lpstr>
      <vt:lpstr>Calibri</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USSL</cp:lastModifiedBy>
  <cp:revision>5</cp:revision>
  <dcterms:created xsi:type="dcterms:W3CDTF">2026-01-19T05:55:38Z</dcterms:created>
  <dcterms:modified xsi:type="dcterms:W3CDTF">2026-01-19T07:07:20Z</dcterms:modified>
</cp:coreProperties>
</file>